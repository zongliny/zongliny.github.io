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5"/>
  </p:notesMasterIdLst>
  <p:sldIdLst>
    <p:sldId id="256" r:id="rId2"/>
    <p:sldId id="270" r:id="rId3"/>
    <p:sldId id="317" r:id="rId4"/>
    <p:sldId id="318" r:id="rId5"/>
    <p:sldId id="319" r:id="rId6"/>
    <p:sldId id="275" r:id="rId7"/>
    <p:sldId id="321" r:id="rId8"/>
    <p:sldId id="281" r:id="rId9"/>
    <p:sldId id="323" r:id="rId10"/>
    <p:sldId id="324" r:id="rId11"/>
    <p:sldId id="325" r:id="rId12"/>
    <p:sldId id="282" r:id="rId13"/>
    <p:sldId id="283" r:id="rId14"/>
    <p:sldId id="326" r:id="rId15"/>
    <p:sldId id="285" r:id="rId16"/>
    <p:sldId id="286" r:id="rId17"/>
    <p:sldId id="328" r:id="rId18"/>
    <p:sldId id="288" r:id="rId19"/>
    <p:sldId id="289" r:id="rId20"/>
    <p:sldId id="330" r:id="rId21"/>
    <p:sldId id="291" r:id="rId22"/>
    <p:sldId id="292" r:id="rId23"/>
    <p:sldId id="293" r:id="rId2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39"/>
    <p:restoredTop sz="81629"/>
  </p:normalViewPr>
  <p:slideViewPr>
    <p:cSldViewPr snapToGrid="0">
      <p:cViewPr varScale="1">
        <p:scale>
          <a:sx n="127" d="100"/>
          <a:sy n="127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D180F-6C13-864F-85D1-B139954B2387}" type="datetimeFigureOut">
              <a:rPr lang="en-CN" smtClean="0"/>
              <a:t>2026/6/16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FCAE65-FEAE-9648-9713-F00EDAE9FE5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3805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Method, theoretical and empirical analyses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AE65-FEAE-9648-9713-F00EDAE9FE5F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87564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AE65-FEAE-9648-9713-F00EDAE9FE5F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05673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Now we have simplified the problem of determining d in all p hierarchies into the iteration of determining d in each hierarchy sequentially. Nonetheless, even within a single hierarchy, the number of candidates remains combinatorically large.</a:t>
            </a:r>
          </a:p>
          <a:p>
            <a:endParaRPr lang="en-CN" dirty="0"/>
          </a:p>
          <a:p>
            <a:r>
              <a:rPr lang="en-CN" dirty="0"/>
              <a:t>Use LLM to propose d by heuristics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AE65-FEAE-9648-9713-F00EDAE9FE5F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54210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70FA7-42AA-5120-2D5F-83EDC584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A1430-0004-05FB-41E7-086138A50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E1BC0-4D1D-4973-D74D-DD682571E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Method, theoretical and empirical analyses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B9D62-68FC-AD6D-1893-6A9D032F3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AE65-FEAE-9648-9713-F00EDAE9FE5F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48253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AE65-FEAE-9648-9713-F00EDAE9FE5F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18018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framework capturing better local optimum automatically gets better as LLMs becomes better.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AE65-FEAE-9648-9713-F00EDAE9FE5F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75208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The baselines are also ablations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AE65-FEAE-9648-9713-F00EDAE9FE5F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1705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435C-32D3-A53A-3CE7-74466C01D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F04BB-5E1F-00D4-5F5F-9B3B2FBD9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511AD-BAC6-F729-C12E-4EEF2650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B444-57F2-F841-A3E8-D05AE04961DB}" type="datetimeFigureOut">
              <a:rPr lang="en-CN" smtClean="0"/>
              <a:t>2026/6/16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9951E-030D-F69D-445C-CAD5077C4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011B5-86C3-90E0-359E-8297FE235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C3ECA-F486-CF4D-AD38-95A76963B72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8736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2805B-6F2E-A820-3879-A3B6A556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3BBE3-26B1-73B9-CE8F-0F48931ED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D2219-6DAA-EDA7-ADA7-236C9CB52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B444-57F2-F841-A3E8-D05AE04961DB}" type="datetimeFigureOut">
              <a:rPr lang="en-CN" smtClean="0"/>
              <a:t>2026/6/16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276B6-A093-7334-7916-52191E6DB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003DF-8BD1-225B-EE84-B1E3B199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C3ECA-F486-CF4D-AD38-95A76963B72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6702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BEBFA-D041-FA5B-B36E-E4E3F66D6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E3C2A-071A-F928-26D5-4709CA7AB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7F5D2-8373-E9C0-5D70-1C7ED47EE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B444-57F2-F841-A3E8-D05AE04961DB}" type="datetimeFigureOut">
              <a:rPr lang="en-CN" smtClean="0"/>
              <a:t>2026/6/16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8A872-0FFC-A4A9-B99B-984C6889D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08637-D211-C214-EC53-21F1B49A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C3ECA-F486-CF4D-AD38-95A76963B72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001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DE3C-4224-B84A-783A-6B4CA70B7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E0F8F-7460-7B07-5E29-72213BF38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3AB1B-90A3-3134-B142-17C5791E7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053B6-6C14-2225-C0C0-D2986549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B444-57F2-F841-A3E8-D05AE04961DB}" type="datetimeFigureOut">
              <a:rPr lang="en-CN" smtClean="0"/>
              <a:t>2026/6/16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F25C8-C936-16D0-DDC3-DE2E8E82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C224C-059F-A891-DC64-8B082B186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C3ECA-F486-CF4D-AD38-95A76963B72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15790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E0C5-4734-B502-635E-ABCE3F088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020E9-BDE2-D76F-0BB5-A5E5BC549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172AA-A627-BC70-9A6C-E4C032061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96EAD1-D108-9F41-6338-F8A883A8A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B102B0-7AEA-70BB-4CDF-6F890D95A4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E0A20-1C20-8946-9CB7-FE50FE273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B444-57F2-F841-A3E8-D05AE04961DB}" type="datetimeFigureOut">
              <a:rPr lang="en-CN" smtClean="0"/>
              <a:t>2026/6/16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F5234B-B0B6-8205-A3C2-F59661668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D917FB-EDEA-1672-D534-6ABA70AD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C3ECA-F486-CF4D-AD38-95A76963B72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9707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0687-A69B-2233-8A5C-013529AC5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1DFB7-780E-57FD-2E5D-11F113E0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B444-57F2-F841-A3E8-D05AE04961DB}" type="datetimeFigureOut">
              <a:rPr lang="en-CN" smtClean="0"/>
              <a:t>2026/6/16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84964-2FAC-ED67-D6F4-032B4C7F7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7A564-C5E6-F006-47E9-BB40129CA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C3ECA-F486-CF4D-AD38-95A76963B72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710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C488D1-16DE-3335-261A-BF6C03AEF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B444-57F2-F841-A3E8-D05AE04961DB}" type="datetimeFigureOut">
              <a:rPr lang="en-CN" smtClean="0"/>
              <a:t>2026/6/16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A3D8D2-DF98-DB8D-DF94-C69893DD3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1009F-FC64-6EFD-1456-535247AB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C3ECA-F486-CF4D-AD38-95A76963B72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24093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8BDBF-5F01-9B60-6E0C-6D4BDA1E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A09AC-4804-48D3-2920-523D2DE3B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64441-5AD4-DE6A-0176-51B8FD61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9660F-957F-0EA5-AC34-3DAC216A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B444-57F2-F841-A3E8-D05AE04961DB}" type="datetimeFigureOut">
              <a:rPr lang="en-CN" smtClean="0"/>
              <a:t>2026/6/16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088C0-C8F0-DF5A-05FC-BA1027A02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3CBC2-87ED-CCFB-BED5-C72F886B9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C3ECA-F486-CF4D-AD38-95A76963B72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39562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40BD6-FDC0-2014-DD94-BAAEF2DF5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A13FAE-B428-B967-9224-0AB610C28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27A10-A4F8-143E-94E4-74D8F5DF9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9059F-EC8E-49EE-47DA-3411C1EDC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B444-57F2-F841-A3E8-D05AE04961DB}" type="datetimeFigureOut">
              <a:rPr lang="en-CN" smtClean="0"/>
              <a:t>2026/6/16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33662-D2D0-DD2E-41C8-F80DBE93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598A7-78D7-9E3A-F9A0-047E7A6D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C3ECA-F486-CF4D-AD38-95A76963B72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8598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F02C-29A1-FBCB-1E09-58AC06C7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E9F7A6-AA41-0559-BF41-47AA1C226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7CE0D-BAEA-98EA-B080-C2988C588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B444-57F2-F841-A3E8-D05AE04961DB}" type="datetimeFigureOut">
              <a:rPr lang="en-CN" smtClean="0"/>
              <a:t>2026/6/16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524FE-DF87-3CF9-9B64-9366BB7C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13D76-F2E1-D5FC-7EBE-B1ECA3304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C3ECA-F486-CF4D-AD38-95A76963B72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97235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5A0604-7F0A-1779-C3E1-C604FF26BE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416D1-6247-C6E9-FE91-74D377C4C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CCBC6-F4D9-E605-19D5-DFDECB313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B444-57F2-F841-A3E8-D05AE04961DB}" type="datetimeFigureOut">
              <a:rPr lang="en-CN" smtClean="0"/>
              <a:t>2026/6/16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1491D-319A-6AC1-0174-7D879599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32F90-BD54-3763-213D-32313EC8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C3ECA-F486-CF4D-AD38-95A76963B72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3165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30B8F-A82B-8D6A-B6EE-4287E750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6251E-B901-FEC2-4D3A-FD94C64A0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CC2F2-1E89-77D4-EE0E-1260676387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EB444-57F2-F841-A3E8-D05AE04961DB}" type="datetimeFigureOut">
              <a:rPr lang="en-CN" smtClean="0"/>
              <a:t>2026/6/16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318A-2E99-2000-9F00-9A8760E1C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544F1-71D7-68AC-9F26-BD9D8DD7C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C3ECA-F486-CF4D-AD38-95A76963B72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46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8825C-F700-E503-28EC-2638CAC028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rgbClr val="000000"/>
                </a:solidFill>
                <a:effectLst/>
                <a:latin typeface="Helvetica" pitchFamily="2" charset="0"/>
              </a:rPr>
              <a:t>MOOSE-Chem2: Exploring LLM Limits</a:t>
            </a:r>
            <a:br>
              <a:rPr lang="en-US" sz="3600" dirty="0">
                <a:solidFill>
                  <a:srgbClr val="000000"/>
                </a:solidFill>
                <a:effectLst/>
                <a:latin typeface="Helvetica" pitchFamily="2" charset="0"/>
              </a:rPr>
            </a:br>
            <a:r>
              <a:rPr lang="en-US" sz="3600" dirty="0">
                <a:solidFill>
                  <a:srgbClr val="000000"/>
                </a:solidFill>
                <a:effectLst/>
                <a:latin typeface="Helvetica" pitchFamily="2" charset="0"/>
              </a:rPr>
              <a:t>in Fine-Grained Scientific Hypothesis Discovery via Hierarchical Search</a:t>
            </a:r>
            <a:endParaRPr lang="en-C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95EDD-D2B0-4B08-5A59-D12D64CB57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Zonglin Yang</a:t>
            </a:r>
          </a:p>
        </p:txBody>
      </p:sp>
    </p:spTree>
    <p:extLst>
      <p:ext uri="{BB962C8B-B14F-4D97-AF65-F5344CB8AC3E}">
        <p14:creationId xmlns:p14="http://schemas.microsoft.com/office/powerpoint/2010/main" val="2198404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3106F-7738-452A-3576-A68CB076D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FDC53-E931-9994-2417-540E88C34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D3873-6C8E-D7F8-945D-9695F80D0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Lack details</a:t>
            </a:r>
          </a:p>
          <a:p>
            <a:pPr lvl="1"/>
            <a:r>
              <a:rPr lang="en-US" i="1" dirty="0"/>
              <a:t>fine-grained hypothesis discovery</a:t>
            </a:r>
          </a:p>
          <a:p>
            <a:r>
              <a:rPr lang="en-US" dirty="0"/>
              <a:t>Not yet best exploit LLM’s capacity and potential</a:t>
            </a:r>
          </a:p>
          <a:p>
            <a:pPr lvl="1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3AF1B67-2C7F-E6D1-407F-D039A4AFA6F5}"/>
              </a:ext>
            </a:extLst>
          </p:cNvPr>
          <p:cNvSpPr/>
          <p:nvPr/>
        </p:nvSpPr>
        <p:spPr>
          <a:xfrm>
            <a:off x="1076446" y="1825625"/>
            <a:ext cx="5019554" cy="90600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5715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69748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2C588-0995-EBFD-7DBD-737D684E9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B48AE-2741-34C8-1F0C-36CEB56B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Fine-grained Hypothesis Discovery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AF885E-F7A4-61A8-C040-64F95D61A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𝑀𝑒𝑡h𝑜𝑑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represents:</a:t>
                </a:r>
              </a:p>
              <a:p>
                <a:pPr lvl="1"/>
                <a:r>
                  <a:rPr lang="en-US" dirty="0"/>
                  <a:t>Adding an element/detail</a:t>
                </a:r>
              </a:p>
              <a:p>
                <a:pPr lvl="1"/>
                <a:r>
                  <a:rPr lang="en-US" dirty="0"/>
                  <a:t>Deleting an existing element/detail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Complexity: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AF885E-F7A4-61A8-C040-64F95D61A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453" b="-29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415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375AA-43A9-A247-53A0-98C5CEC71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E07FB-312A-F0FA-C41C-1B906BD6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B1D12B-E917-DDFD-D51B-40F16A9641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implicit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can be very large</a:t>
                </a:r>
              </a:p>
              <a:p>
                <a:r>
                  <a:rPr lang="en-US" dirty="0"/>
                  <a:t>Complexity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US" dirty="0"/>
                  <a:t>) is intractable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B1D12B-E917-DDFD-D51B-40F16A9641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193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DE1B0-94BF-F7E9-E90D-90DE0824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2EE96-B305-C005-9B28-D37DA755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Intractable </a:t>
            </a:r>
            <a:r>
              <a:rPr lang="en-US" dirty="0"/>
              <a:t>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FD1968-94B6-F962-9DC4-EFB69682D1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Classical algorithm for combinatorial complexity</a:t>
                </a:r>
              </a:p>
              <a:p>
                <a:pPr lvl="1"/>
                <a:r>
                  <a:rPr lang="en-US" dirty="0"/>
                  <a:t>Dynamic programming</a:t>
                </a:r>
              </a:p>
              <a:p>
                <a:r>
                  <a:rPr lang="en-US" dirty="0"/>
                  <a:t>Problem structure</a:t>
                </a:r>
              </a:p>
              <a:p>
                <a:pPr lvl="1"/>
                <a:r>
                  <a:rPr lang="en-US" dirty="0"/>
                  <a:t>Optimal solution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optimal solution of its subproblem</a:t>
                </a:r>
              </a:p>
              <a:p>
                <a:r>
                  <a:rPr lang="en-US" dirty="0"/>
                  <a:t>Partition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hierarchies	</a:t>
                </a:r>
              </a:p>
              <a:p>
                <a:pPr lvl="1"/>
                <a:r>
                  <a:rPr lang="en-US" dirty="0"/>
                  <a:t>High-level concepts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low-level details</a:t>
                </a:r>
              </a:p>
              <a:p>
                <a:r>
                  <a:rPr lang="en-US" dirty="0"/>
                  <a:t>Optimal solution of full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/>
                  <a:t> optimal solution of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in high-level concepts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FD1968-94B6-F962-9DC4-EFB69682D1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121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9683D-136B-E2CB-C405-254A93367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D7EAC-7084-9CED-B301-8070ACE6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Hierarchy for Chemistry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0E323A-4DF0-7C96-0B3C-747AF9C17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58846"/>
            <a:ext cx="10515600" cy="388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65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D638-A552-CCC5-7FB1-BA8D107DF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0530-67BB-954A-2B09-C37F2416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Intractable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7794D6-4FC9-293E-F518-97A67DCBA6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00"/>
                    </a:solidFill>
                    <a:latin typeface="Helvetica" pitchFamily="2" charset="0"/>
                  </a:rPr>
                  <a:t>D</a:t>
                </a:r>
                <a:r>
                  <a:rPr lang="en-US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etermining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 in all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 hierarchies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Helvetica" pitchFamily="2" charset="0"/>
                  </a:rPr>
                  <a:t>iteration of determining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Helvetica" pitchFamily="2" charset="0"/>
                  </a:rPr>
                  <a:t> in each hierarchy sequentially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Helvetica" pitchFamily="2" charset="0"/>
                  </a:rPr>
                  <a:t>Reduce search space</a:t>
                </a:r>
                <a:endParaRPr lang="en-US" dirty="0"/>
              </a:p>
              <a:p>
                <a:r>
                  <a:rPr lang="en-US" dirty="0"/>
                  <a:t>Use approximate solution by heuristics </a:t>
                </a:r>
              </a:p>
              <a:p>
                <a:pPr lvl="1"/>
                <a:r>
                  <a:rPr lang="en-US" dirty="0"/>
                  <a:t>Rather than exhaustively search for the exact solution</a:t>
                </a:r>
              </a:p>
              <a:p>
                <a:pPr lvl="1"/>
                <a:r>
                  <a:rPr lang="en-US" dirty="0"/>
                  <a:t>LLM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7794D6-4FC9-293E-F518-97A67DCBA6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 r="-10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11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CDF9C-FFFC-57B6-7CEF-5D2706AFA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5CDB-A461-B9A3-AAEE-36609BA9F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116-0D28-A23E-44A1-36614E663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Lack details</a:t>
            </a:r>
          </a:p>
          <a:p>
            <a:pPr lvl="1"/>
            <a:r>
              <a:rPr lang="en-US" i="1" dirty="0"/>
              <a:t>fine-grained hypothesis discovery</a:t>
            </a:r>
          </a:p>
          <a:p>
            <a:r>
              <a:rPr lang="en-US" dirty="0"/>
              <a:t>Not yet best exploit LLM’s capacity and potential</a:t>
            </a:r>
          </a:p>
          <a:p>
            <a:pPr lvl="1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2BD800-6DBB-4A44-B798-1FA28B4A4F58}"/>
              </a:ext>
            </a:extLst>
          </p:cNvPr>
          <p:cNvSpPr/>
          <p:nvPr/>
        </p:nvSpPr>
        <p:spPr>
          <a:xfrm>
            <a:off x="1076446" y="2751599"/>
            <a:ext cx="7523544" cy="41986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5715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14179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6D4D8-340F-54DD-59BD-F49DF2707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6A17-5F5C-AD85-B137-8F28CB753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 LLM’s Upper 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02F7D-91F6-8491-9EA1-A3A00B9E8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578"/>
          </a:xfrm>
        </p:spPr>
        <p:txBody>
          <a:bodyPr>
            <a:normAutofit/>
          </a:bodyPr>
          <a:lstStyle/>
          <a:p>
            <a:r>
              <a:rPr lang="en-US" dirty="0"/>
              <a:t>Definition of </a:t>
            </a:r>
            <a:r>
              <a:rPr lang="en-US" i="1" dirty="0"/>
              <a:t>upper limit</a:t>
            </a:r>
          </a:p>
          <a:p>
            <a:pPr lvl="1"/>
            <a:r>
              <a:rPr lang="en-US" i="1" dirty="0"/>
              <a:t>Of all the hypotheses an LLM can possibly generate, the one that the LLM itself consider the best</a:t>
            </a:r>
          </a:p>
          <a:p>
            <a:r>
              <a:rPr lang="en-US" dirty="0"/>
              <a:t>Consider a latent space</a:t>
            </a:r>
          </a:p>
          <a:p>
            <a:pPr lvl="1"/>
            <a:r>
              <a:rPr lang="en-US" dirty="0"/>
              <a:t>x-axis: hypothesis</a:t>
            </a:r>
          </a:p>
          <a:p>
            <a:pPr lvl="1"/>
            <a:r>
              <a:rPr lang="en-US" dirty="0"/>
              <a:t>y-axis: internal reward from LLM</a:t>
            </a:r>
          </a:p>
          <a:p>
            <a:r>
              <a:rPr lang="en-US" dirty="0"/>
              <a:t>Upper limit:</a:t>
            </a:r>
          </a:p>
          <a:p>
            <a:pPr lvl="1"/>
            <a:r>
              <a:rPr lang="en-US" dirty="0"/>
              <a:t>The global maximum of the latent space</a:t>
            </a:r>
          </a:p>
          <a:p>
            <a:r>
              <a:rPr lang="en-US" dirty="0"/>
              <a:t>In practice</a:t>
            </a:r>
          </a:p>
          <a:p>
            <a:pPr lvl="1"/>
            <a:r>
              <a:rPr lang="en-US" dirty="0"/>
              <a:t>Searching for a better local maximum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8F379A-4E3D-0AAE-ACBD-9BA35CC4A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015" y="2781630"/>
            <a:ext cx="4443239" cy="379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58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25FE6-97CD-3472-F8BB-F0127DBA4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E7FC3-5D07-5405-3A3F-CC8F33F3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 LLM’s Upper 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66A34-2C1F-1EC1-B635-204E03B58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human scientist do</a:t>
            </a:r>
          </a:p>
          <a:p>
            <a:pPr lvl="1"/>
            <a:r>
              <a:rPr lang="en-US" dirty="0"/>
              <a:t>To think of a hypothesis that themselves would think the best for experiment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78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F8801-668C-4237-2718-6FE4A4062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9CD4D-3319-2FB9-5ACD-9A3932603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Challenge: Exploit LLM’s Upper 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C18E2-516C-3A75-6AE8-26989CB71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rugged reward landscape </a:t>
            </a:r>
          </a:p>
          <a:p>
            <a:pPr lvl="1"/>
            <a:r>
              <a:rPr lang="en-US" dirty="0"/>
              <a:t>Difficult for optimization</a:t>
            </a:r>
          </a:p>
          <a:p>
            <a:r>
              <a:rPr lang="en-US" dirty="0"/>
              <a:t>Method: the hierarchical design</a:t>
            </a:r>
          </a:p>
          <a:p>
            <a:pPr lvl="1"/>
            <a:r>
              <a:rPr lang="en-US" dirty="0"/>
              <a:t>Smoothen the reward landscape by averaging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C88B9B-9685-C079-BC6C-74520127D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54" y="3832948"/>
            <a:ext cx="6344758" cy="234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363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660E3-B02D-FD28-7542-4C9269E83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F761-8C1C-C0FB-8959-3CB5C125D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B70A45-5EE6-913D-9EDF-A6C1095ED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1707" y="365125"/>
            <a:ext cx="6578004" cy="601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897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E0B0242-EAE6-4AEF-C1A1-6A45F09A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E43D-F88B-B513-5869-CB44351CA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Low-Pass Filtering on Reward Landscape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1E3127-8C67-E4D9-69DE-8A198469C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9650" y="1835944"/>
            <a:ext cx="101727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42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F3450-B251-931F-A27C-D8D7180B5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63FEB-E36E-EB30-3BD1-78F6C3BEA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B7A405-2FC7-590C-F24D-B7CF04D34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910" y="1883461"/>
            <a:ext cx="11180180" cy="40417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385AFBA-197E-009B-294F-19BF521C17BA}"/>
              </a:ext>
            </a:extLst>
          </p:cNvPr>
          <p:cNvSpPr/>
          <p:nvPr/>
        </p:nvSpPr>
        <p:spPr>
          <a:xfrm>
            <a:off x="590309" y="1883460"/>
            <a:ext cx="5505692" cy="1947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F89088-E6E5-7955-87C1-E47B95135155}"/>
              </a:ext>
            </a:extLst>
          </p:cNvPr>
          <p:cNvSpPr/>
          <p:nvPr/>
        </p:nvSpPr>
        <p:spPr>
          <a:xfrm>
            <a:off x="7836060" y="4306322"/>
            <a:ext cx="3850029" cy="2093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68980C-47BE-0103-AC85-9AD5995BD80B}"/>
              </a:ext>
            </a:extLst>
          </p:cNvPr>
          <p:cNvSpPr/>
          <p:nvPr/>
        </p:nvSpPr>
        <p:spPr>
          <a:xfrm>
            <a:off x="6096000" y="1883459"/>
            <a:ext cx="5505692" cy="1947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7758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17D43-F379-B7C7-3451-9C007ACE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0749C-240C-C771-0AB9-77F99D9BB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CFCA01-8196-19A9-6747-95F431FAB2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to reach to better local optimum?</a:t>
                </a:r>
              </a:p>
              <a:p>
                <a:r>
                  <a:rPr lang="en-US" dirty="0"/>
                  <a:t>Does it really better?</a:t>
                </a:r>
              </a:p>
              <a:p>
                <a:r>
                  <a:rPr lang="en-US" dirty="0"/>
                  <a:t>Reward landscape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/>
                  <a:t> Multiple diverse LLMs</a:t>
                </a:r>
              </a:p>
              <a:p>
                <a:r>
                  <a:rPr lang="en-US" dirty="0"/>
                  <a:t>Reward landscape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/>
                  <a:t> Multiple same LLMs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CFCA01-8196-19A9-6747-95F431FAB2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12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28AD9-FC97-7810-74F9-9A9950577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041F2-11EE-4B1B-69FA-878F07A7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EBF36-348D-790F-4834-400BD4D91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 TOMATO-Chem </a:t>
            </a:r>
          </a:p>
          <a:p>
            <a:r>
              <a:rPr lang="en-US" dirty="0"/>
              <a:t>51 papers published in good venues</a:t>
            </a:r>
          </a:p>
          <a:p>
            <a:pPr lvl="1"/>
            <a:r>
              <a:rPr lang="en-US" dirty="0"/>
              <a:t>Research background</a:t>
            </a:r>
          </a:p>
          <a:p>
            <a:pPr lvl="1"/>
            <a:r>
              <a:rPr lang="en-US" dirty="0"/>
              <a:t>Fine-grained hypothesis</a:t>
            </a:r>
          </a:p>
        </p:txBody>
      </p:sp>
    </p:spTree>
    <p:extLst>
      <p:ext uri="{BB962C8B-B14F-4D97-AF65-F5344CB8AC3E}">
        <p14:creationId xmlns:p14="http://schemas.microsoft.com/office/powerpoint/2010/main" val="756839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F716D-C1D3-4365-40C8-29ACE1BC9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98A4C-B82C-D6C6-3B46-198968AD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22770-A520-69E0-AA0C-C1A16B3CD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 pairwise evaluation</a:t>
            </a:r>
          </a:p>
          <a:p>
            <a:pPr lvl="1"/>
            <a:r>
              <a:rPr lang="en-US" dirty="0"/>
              <a:t>Which one is better optimum?</a:t>
            </a:r>
          </a:p>
          <a:p>
            <a:r>
              <a:rPr lang="en-US" dirty="0"/>
              <a:t>Reference-based evaluation</a:t>
            </a:r>
          </a:p>
          <a:p>
            <a:pPr lvl="1"/>
            <a:r>
              <a:rPr lang="en-US" dirty="0"/>
              <a:t>How many details in annotated fine-grained hypothesis are recalled?</a:t>
            </a:r>
          </a:p>
        </p:txBody>
      </p:sp>
    </p:spTree>
    <p:extLst>
      <p:ext uri="{BB962C8B-B14F-4D97-AF65-F5344CB8AC3E}">
        <p14:creationId xmlns:p14="http://schemas.microsoft.com/office/powerpoint/2010/main" val="3517068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54D8C-AD41-6CCE-1F52-B2F9D0907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0C86B-F9A5-64EB-B0CC-2E767AC5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80560-F854-A54A-175B-07A554420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Greedy Search</a:t>
            </a:r>
          </a:p>
          <a:p>
            <a:r>
              <a:rPr lang="en-US" dirty="0"/>
              <a:t>Greedy Search + Self-consistency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EF510C-89D6-A7F0-1CD6-BE1A94126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785" y="3063896"/>
            <a:ext cx="9336429" cy="27856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96745C9-9456-AEA7-6A7D-0D2F7702DA40}"/>
              </a:ext>
            </a:extLst>
          </p:cNvPr>
          <p:cNvSpPr/>
          <p:nvPr/>
        </p:nvSpPr>
        <p:spPr>
          <a:xfrm>
            <a:off x="1498266" y="3063896"/>
            <a:ext cx="4597735" cy="1342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97ACB9-81B5-EF1F-81BF-96F903D107EF}"/>
              </a:ext>
            </a:extLst>
          </p:cNvPr>
          <p:cNvSpPr/>
          <p:nvPr/>
        </p:nvSpPr>
        <p:spPr>
          <a:xfrm>
            <a:off x="7549102" y="4406323"/>
            <a:ext cx="3215111" cy="17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62F792-6F58-BC8C-36AA-79B4479D30FA}"/>
              </a:ext>
            </a:extLst>
          </p:cNvPr>
          <p:cNvSpPr/>
          <p:nvPr/>
        </p:nvSpPr>
        <p:spPr>
          <a:xfrm>
            <a:off x="6095999" y="3063895"/>
            <a:ext cx="4597735" cy="1342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974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A32A2-E2BC-9379-EE4B-C85B166AE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7A16-E462-AED7-D8EF-4A4C5133B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Question 1: How to reach to better local optimum?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5DC191-D6CB-49AE-E9CA-DF6034E6E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658" y="1690688"/>
            <a:ext cx="101806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24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BDC9-7BF8-DCB3-A2AC-44EC62D0B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C945A-FDB9-530D-5B9B-490341997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Question 2: Does it really better?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2FB55D-8D76-919C-4EDE-B84A8D20E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2C3836-2D5D-4F6A-60E4-4A4C37A80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77786"/>
            <a:ext cx="7772400" cy="433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94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93918-572B-33C6-0EEC-8044A7E8E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401B453-E9D5-00ED-874E-53B6908794F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600" dirty="0"/>
                  <a:t>Question 3: Reward landscape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3600" dirty="0"/>
                  <a:t> Multiple Diverse LLMs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401B453-E9D5-00ED-874E-53B6908794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09" r="-10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8C9888-F2FD-3BD1-817F-55C3931C1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18990" y="1825625"/>
            <a:ext cx="93540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85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19A2B84-C1FE-D713-0198-15A2EB68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F3E7A74-F512-2D10-8498-266AB499E2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600"/>
                  <a:t>Question 4: </a:t>
                </a:r>
                <a:r>
                  <a:rPr lang="en-US" sz="3600" dirty="0"/>
                  <a:t>Reward landscape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3600" dirty="0"/>
                  <a:t> Multiple Same LLMs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F3E7A74-F512-2D10-8498-266AB499E2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0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E88E3F-7518-C51F-4F4D-349DEA72B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698830"/>
            <a:ext cx="10515600" cy="207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7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5810-AE77-A6FD-8A96-80EF20B1F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A9A4-2272-D409-63CB-4EDAB4744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4497-3B14-D813-883C-0036F33CD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9F092A-6A8A-FF29-C30B-0B9879047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966" y="2399041"/>
            <a:ext cx="3060700" cy="3568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86EE29-381B-6FF2-4513-6F4650C316BE}"/>
              </a:ext>
            </a:extLst>
          </p:cNvPr>
          <p:cNvSpPr txBox="1"/>
          <p:nvPr/>
        </p:nvSpPr>
        <p:spPr>
          <a:xfrm>
            <a:off x="3805352" y="6123543"/>
            <a:ext cx="1235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My Twitter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ED6B54-C177-B35B-3344-B2C3AA1BB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189" y="2363551"/>
            <a:ext cx="2937335" cy="36041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E078B8-7CB2-8A39-A94D-272268D05B4D}"/>
              </a:ext>
            </a:extLst>
          </p:cNvPr>
          <p:cNvSpPr txBox="1"/>
          <p:nvPr/>
        </p:nvSpPr>
        <p:spPr>
          <a:xfrm>
            <a:off x="8277933" y="6123543"/>
            <a:ext cx="8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16800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Words>520</Words>
  <Application>Microsoft Macintosh PowerPoint</Application>
  <PresentationFormat>Widescreen</PresentationFormat>
  <Paragraphs>100</Paragraphs>
  <Slides>23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Helvetica</vt:lpstr>
      <vt:lpstr>Office Theme</vt:lpstr>
      <vt:lpstr>MOOSE-Chem2: Exploring LLM Limits in Fine-Grained Scientific Hypothesis Discovery via Hierarchical Search</vt:lpstr>
      <vt:lpstr>Motivation</vt:lpstr>
      <vt:lpstr>Fine-grained Hypothesis Discovery</vt:lpstr>
      <vt:lpstr>Challenges</vt:lpstr>
      <vt:lpstr>Intractable Complexity</vt:lpstr>
      <vt:lpstr>Example Hierarchy for Chemistry</vt:lpstr>
      <vt:lpstr>Intractable Complexity</vt:lpstr>
      <vt:lpstr>Motivation</vt:lpstr>
      <vt:lpstr>Exploit LLM’s Upper Limit</vt:lpstr>
      <vt:lpstr>Exploit LLM’s Upper Limit</vt:lpstr>
      <vt:lpstr>Challenge: Exploit LLM’s Upper Limit</vt:lpstr>
      <vt:lpstr>PowerPoint Presentation</vt:lpstr>
      <vt:lpstr>Low-Pass Filtering on Reward Landscape</vt:lpstr>
      <vt:lpstr>Method</vt:lpstr>
      <vt:lpstr>Research Questions</vt:lpstr>
      <vt:lpstr>Benchmark</vt:lpstr>
      <vt:lpstr>Evaluation</vt:lpstr>
      <vt:lpstr>Baselines</vt:lpstr>
      <vt:lpstr>Question 1: How to reach to better local optimum?</vt:lpstr>
      <vt:lpstr>Question 2: Does it really better?</vt:lpstr>
      <vt:lpstr>Question 3: Reward landscape ← Multiple Diverse LLMs</vt:lpstr>
      <vt:lpstr>Question 4: Reward landscape ← Multiple Same LLMs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 ZongLin-杨宗霖</dc:creator>
  <cp:lastModifiedBy>Yang Zonglin</cp:lastModifiedBy>
  <cp:revision>26</cp:revision>
  <dcterms:created xsi:type="dcterms:W3CDTF">2025-07-06T08:28:53Z</dcterms:created>
  <dcterms:modified xsi:type="dcterms:W3CDTF">2026-06-16T07:48:15Z</dcterms:modified>
</cp:coreProperties>
</file>